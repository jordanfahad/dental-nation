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5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7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7_0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3B40"/>
                </a:solidFill>
                <a:latin typeface="Cambria"/>
              </a:defRPr>
            </a:pPr>
            <a:r>
              <a:rPr lang="en-US" sz="1200" b="0" i="0" u="none" strike="noStrike">
                <a:solidFill>
                  <a:srgbClr val="0B3B40"/>
                </a:solidFill>
                <a:latin typeface="Cambria"/>
              </a:rPr>
              <a:t>Addressable market by lane (AED millions)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Dubai TAM (AED 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5E7375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M — TMJ/Night Guards</c:v>
                </c:pt>
                <c:pt idx="1">
                  <c:v>K — Periodontics</c:v>
                </c:pt>
                <c:pt idx="2">
                  <c:v>L — Oral Surgery</c:v>
                </c:pt>
                <c:pt idx="3">
                  <c:v>H — Tourism</c:v>
                </c:pt>
                <c:pt idx="4">
                  <c:v>G — Aesthetic</c:v>
                </c:pt>
                <c:pt idx="5">
                  <c:v>J — Ortho</c:v>
                </c:pt>
                <c:pt idx="6">
                  <c:v>F — Specialty</c:v>
                </c:pt>
                <c:pt idx="7">
                  <c:v>I — Kids</c:v>
                </c:pt>
                <c:pt idx="8">
                  <c:v>D — Emergency</c:v>
                </c:pt>
                <c:pt idx="9">
                  <c:v>E — Corporate</c:v>
                </c:pt>
                <c:pt idx="10">
                  <c:v>C — Implants</c:v>
                </c:pt>
                <c:pt idx="11">
                  <c:v>B — Family</c:v>
                </c:pt>
                <c:pt idx="12">
                  <c:v>A — Cosmetic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48</c:v>
                </c:pt>
                <c:pt idx="1">
                  <c:v>92</c:v>
                </c:pt>
                <c:pt idx="2">
                  <c:v>105</c:v>
                </c:pt>
                <c:pt idx="3">
                  <c:v>130</c:v>
                </c:pt>
                <c:pt idx="4">
                  <c:v>155</c:v>
                </c:pt>
                <c:pt idx="5">
                  <c:v>175</c:v>
                </c:pt>
                <c:pt idx="6">
                  <c:v>190</c:v>
                </c:pt>
                <c:pt idx="7">
                  <c:v>195</c:v>
                </c:pt>
                <c:pt idx="8">
                  <c:v>240</c:v>
                </c:pt>
                <c:pt idx="9">
                  <c:v>310</c:v>
                </c:pt>
                <c:pt idx="10">
                  <c:v>410</c:v>
                </c:pt>
                <c:pt idx="11">
                  <c:v>510</c:v>
                </c:pt>
                <c:pt idx="12">
                  <c:v>680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62-4101-B2CF-88992FD725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034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0"/>
          <c:min val="0"/>
        </c:scaling>
        <c:delete val="0"/>
        <c:axPos val="b"/>
        <c:majorGridlines>
          <c:spPr>
            <a:ln w="9525" cap="flat">
              <a:solidFill>
                <a:srgbClr val="E3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E73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3B40"/>
                </a:solidFill>
                <a:latin typeface="Cambria"/>
              </a:defRPr>
            </a:pPr>
            <a:r>
              <a:rPr lang="en-US" sz="1250" b="0" i="0" u="none" strike="noStrike">
                <a:solidFill>
                  <a:srgbClr val="0B3B40"/>
                </a:solidFill>
                <a:latin typeface="Cambria"/>
              </a:rPr>
              <a:t>Conversion &amp; retention rates — target vs industry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DN target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343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Consult → acceptance (Lane A)</c:v>
                </c:pt>
                <c:pt idx="1">
                  <c:v>Recall adherence (Lane B)</c:v>
                </c:pt>
                <c:pt idx="2">
                  <c:v>Family cross-booking (Lane B)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58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51-48E3-94E3-2FA163BBA4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Dubai industry</c:v>
                </c:pt>
              </c:strCache>
            </c:strRef>
          </c:tx>
          <c:spPr>
            <a:solidFill>
              <a:srgbClr val="9DB4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343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Consult → acceptance (Lane A)</c:v>
                </c:pt>
                <c:pt idx="1">
                  <c:v>Recall adherence (Lane B)</c:v>
                </c:pt>
                <c:pt idx="2">
                  <c:v>Family cross-booking (Lane B)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35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51-48E3-94E3-2FA163BBA4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034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9525" cap="flat">
              <a:solidFill>
                <a:srgbClr val="E3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73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034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B3B40"/>
                </a:solidFill>
                <a:latin typeface="Cambria"/>
              </a:defRPr>
            </a:pPr>
            <a:r>
              <a:rPr lang="en-US" sz="1250" b="0" i="0" u="none" strike="noStrike">
                <a:solidFill>
                  <a:srgbClr val="0B3B40"/>
                </a:solidFill>
                <a:latin typeface="Cambria"/>
              </a:rPr>
              <a:t>LTV:CAC — DN target vs category-leader threshold (×)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DN target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343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Implants (C)</c:v>
                </c:pt>
                <c:pt idx="1">
                  <c:v>Specialty (F)</c:v>
                </c:pt>
                <c:pt idx="2">
                  <c:v>Cosmetic (A)</c:v>
                </c:pt>
                <c:pt idx="3">
                  <c:v>Emergency (D)</c:v>
                </c:pt>
                <c:pt idx="4">
                  <c:v>Ortho (J)</c:v>
                </c:pt>
                <c:pt idx="5">
                  <c:v>Family (B)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</c:v>
                </c:pt>
                <c:pt idx="1">
                  <c:v>45</c:v>
                </c:pt>
                <c:pt idx="2">
                  <c:v>38</c:v>
                </c:pt>
                <c:pt idx="3">
                  <c:v>35</c:v>
                </c:pt>
                <c:pt idx="4">
                  <c:v>32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CB-4765-8093-CDEC10E051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Leader threshold</c:v>
                </c:pt>
              </c:strCache>
            </c:strRef>
          </c:tx>
          <c:spPr>
            <a:solidFill>
              <a:srgbClr val="9DB4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0343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Implants (C)</c:v>
                </c:pt>
                <c:pt idx="1">
                  <c:v>Specialty (F)</c:v>
                </c:pt>
                <c:pt idx="2">
                  <c:v>Cosmetic (A)</c:v>
                </c:pt>
                <c:pt idx="3">
                  <c:v>Emergency (D)</c:v>
                </c:pt>
                <c:pt idx="4">
                  <c:v>Ortho (J)</c:v>
                </c:pt>
                <c:pt idx="5">
                  <c:v>Family (B)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45</c:v>
                </c:pt>
                <c:pt idx="1">
                  <c:v>40</c:v>
                </c:pt>
                <c:pt idx="2">
                  <c:v>35</c:v>
                </c:pt>
                <c:pt idx="3">
                  <c:v>30</c:v>
                </c:pt>
                <c:pt idx="4">
                  <c:v>28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CB-4765-8093-CDEC10E051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034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9525" cap="flat">
              <a:solidFill>
                <a:srgbClr val="E3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E73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0343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829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206240" cy="42062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15600" y="4480560"/>
            <a:ext cx="3291840" cy="32918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NATION · DUBAI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Operating</a:t>
            </a:r>
            <a:endParaRPr lang="en-US" sz="5200"/>
          </a:p>
          <a:p>
            <a:pPr marL="0" indent="0">
              <a:lnSpc>
                <a:spcPts val="5800"/>
              </a:lnSpc>
              <a:buNone/>
            </a:pPr>
            <a:r>
              <a:rPr lang="en-US" sz="5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520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Generation  ·  Activation  ·  Patient Acquisition  ·  Retention  ·  Growth Channels  ·  Structure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8FB8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briefing · July 2026 · Compiled from the Dental Nation Notion workspace</a:t>
            </a:r>
            <a:endParaRPr lang="en-US"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Dental Nation has built — one integrated system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exists as a documented system in the workspace; the gap is execution staffing and live dashboards.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60904" cy="1627632"/>
          </a:xfrm>
          <a:prstGeom prst="roundRect">
            <a:avLst>
              <a:gd name="adj" fmla="val 3933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7007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/>
          </a:p>
        </p:txBody>
      </p:sp>
      <p:sp>
        <p:nvSpPr>
          <p:cNvPr id="7" name="Text 5"/>
          <p:cNvSpPr/>
          <p:nvPr/>
        </p:nvSpPr>
        <p:spPr>
          <a:xfrm>
            <a:off x="713232" y="2267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entities live or in pipeline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713232" y="2578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Wasl · Dr. Tosun · AMC (Al Maher) · DIFC (Q1-27)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3392424" y="1554480"/>
            <a:ext cx="2660904" cy="1627632"/>
          </a:xfrm>
          <a:prstGeom prst="roundRect">
            <a:avLst>
              <a:gd name="adj" fmla="val 3933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57016" y="17007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/>
          </a:p>
        </p:txBody>
      </p:sp>
      <p:sp>
        <p:nvSpPr>
          <p:cNvPr id="11" name="Text 9"/>
          <p:cNvSpPr/>
          <p:nvPr/>
        </p:nvSpPr>
        <p:spPr>
          <a:xfrm>
            <a:off x="3557016" y="2267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lanes, A–M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3557016" y="2578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campaign, offer and hire traces to a lane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6236208" y="1554480"/>
            <a:ext cx="2660904" cy="1627632"/>
          </a:xfrm>
          <a:prstGeom prst="roundRect">
            <a:avLst>
              <a:gd name="adj" fmla="val 3933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7007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6400800" y="2267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Office functions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6400800" y="2578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→ Demand → Conversion → Activation → Pods → Retention → Partnerships → Analytics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9079992" y="1554480"/>
            <a:ext cx="2660904" cy="1627632"/>
          </a:xfrm>
          <a:prstGeom prst="roundRect">
            <a:avLst>
              <a:gd name="adj" fmla="val 3933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44584" y="17007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 3.2B+</a:t>
            </a:r>
            <a:endParaRPr lang="en-US" sz="3000"/>
          </a:p>
        </p:txBody>
      </p:sp>
      <p:sp>
        <p:nvSpPr>
          <p:cNvPr id="19" name="Text 17"/>
          <p:cNvSpPr/>
          <p:nvPr/>
        </p:nvSpPr>
        <p:spPr>
          <a:xfrm>
            <a:off x="9244584" y="226771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Dubai TAM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9244584" y="25786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 across the 13 demand lanes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548640" y="34564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&amp; acquisition</a:t>
            </a:r>
            <a:endParaRPr lang="en-US" sz="1550"/>
          </a:p>
        </p:txBody>
      </p:sp>
      <p:sp>
        <p:nvSpPr>
          <p:cNvPr id="22" name="Text 20"/>
          <p:cNvSpPr/>
          <p:nvPr/>
        </p:nvSpPr>
        <p:spPr>
          <a:xfrm>
            <a:off x="548640" y="38404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Generation Engine defined in 5 layers: awareness → offer → experience → relationship → data loop</a:t>
            </a:r>
            <a:endParaRPr lang="en-US" sz="110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Demand Lanes v2.0 with TAM, unit economics and 2026 action plans; OWN / BUILD / PILOT / RUN funding rules</a:t>
            </a:r>
            <a:endParaRPr lang="en-US" sz="110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Command Center V1 with funnel KPIs, dashboards and a 30/60/90 build plan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4370832" y="34564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&amp; retention</a:t>
            </a:r>
            <a:endParaRPr lang="en-US" sz="1550"/>
          </a:p>
        </p:txBody>
      </p:sp>
      <p:sp>
        <p:nvSpPr>
          <p:cNvPr id="24" name="Text 22"/>
          <p:cNvSpPr/>
          <p:nvPr/>
        </p:nvSpPr>
        <p:spPr>
          <a:xfrm>
            <a:off x="4370832" y="38404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Growth Chapters for Acacia, Al Maher, Tosan and Elite DIFC + 6 specialty growth pods</a:t>
            </a:r>
            <a:endParaRPr lang="en-US" sz="110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control room: speed-to-lead &lt; 5 min, no-show recovery, 100% treatment-plan follow-up</a:t>
            </a:r>
            <a:endParaRPr lang="en-US" sz="110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/ Retention Engine: recall, reactivation and membership loops per lane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8193024" y="345643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&amp; structure</a:t>
            </a:r>
            <a:endParaRPr lang="en-US" sz="1550"/>
          </a:p>
        </p:txBody>
      </p:sp>
      <p:sp>
        <p:nvSpPr>
          <p:cNvPr id="26" name="Text 24"/>
          <p:cNvSpPr/>
          <p:nvPr/>
        </p:nvSpPr>
        <p:spPr>
          <a:xfrm>
            <a:off x="8193024" y="384048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channel map — Paid, Owned, Earned, Shared, Partner — plus 18 PPP / institutional access channels</a:t>
            </a:r>
            <a:endParaRPr lang="en-US" sz="110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HoldCo + MSO + IP Co + per-clinic companies; each clinic in its own entity</a:t>
            </a:r>
            <a:endParaRPr lang="en-US" sz="110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set against Dubai market benchmarks: recall, acceptance and LTV:CAC above industry norms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DN Growth Command Center V1 · 13 Demand Lanes v2.0 · Marketing Channel Map · Integrated Financial Model v1/v7 (Notion)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an operating system, not a marketing department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Command Center turns visibility into demand, demand into bookings, bookings into treatment, and treatment into lifetime value.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075688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Visibility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2807208" y="1572768"/>
            <a:ext cx="2075688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07208" y="1572768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Trust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065776" y="1572768"/>
            <a:ext cx="2075688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65776" y="1572768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Demand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7324344" y="1572768"/>
            <a:ext cx="2075688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24344" y="1572768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Booking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9582912" y="1572768"/>
            <a:ext cx="2075688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82912" y="1572768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Show-up</a:t>
            </a:r>
            <a:endParaRPr lang="en-US" sz="1250"/>
          </a:p>
        </p:txBody>
      </p:sp>
      <p:sp>
        <p:nvSpPr>
          <p:cNvPr id="15" name="Shape 13"/>
          <p:cNvSpPr/>
          <p:nvPr/>
        </p:nvSpPr>
        <p:spPr>
          <a:xfrm>
            <a:off x="548640" y="2139696"/>
            <a:ext cx="2075688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139696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Diagnosis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2807208" y="2139696"/>
            <a:ext cx="2075688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07208" y="2139696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Acceptance</a:t>
            </a:r>
            <a:endParaRPr lang="en-US" sz="1250"/>
          </a:p>
        </p:txBody>
      </p:sp>
      <p:sp>
        <p:nvSpPr>
          <p:cNvPr id="19" name="Shape 17"/>
          <p:cNvSpPr/>
          <p:nvPr/>
        </p:nvSpPr>
        <p:spPr>
          <a:xfrm>
            <a:off x="5065776" y="2139696"/>
            <a:ext cx="2075688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65776" y="2139696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Revenue</a:t>
            </a:r>
            <a:endParaRPr lang="en-US" sz="1250"/>
          </a:p>
        </p:txBody>
      </p:sp>
      <p:sp>
        <p:nvSpPr>
          <p:cNvPr id="21" name="Shape 19"/>
          <p:cNvSpPr/>
          <p:nvPr/>
        </p:nvSpPr>
        <p:spPr>
          <a:xfrm>
            <a:off x="7324344" y="2139696"/>
            <a:ext cx="2075688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24344" y="2139696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Retention</a:t>
            </a:r>
            <a:endParaRPr lang="en-US" sz="1250"/>
          </a:p>
        </p:txBody>
      </p:sp>
      <p:sp>
        <p:nvSpPr>
          <p:cNvPr id="23" name="Shape 21"/>
          <p:cNvSpPr/>
          <p:nvPr/>
        </p:nvSpPr>
        <p:spPr>
          <a:xfrm>
            <a:off x="9582912" y="2139696"/>
            <a:ext cx="2075688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82912" y="2139696"/>
            <a:ext cx="207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Referral</a:t>
            </a:r>
            <a:endParaRPr lang="en-US" sz="125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11091672" cy="263347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59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Engine / Founder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Trust, positioning, preference, proof language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 Studio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Doctor content, clinic content, proof and campaign assets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Office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Traffic, leads, paid / organic activation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Operations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Calls, WhatsApp, CRM, bookings, no-show recovery, follow-up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Operations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quality, patient experience, chair capacity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+ Clinic Ops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Recall, referral, Smile Club, patient lifecycle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Analytics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Funnel visibility, CAC, ROI, clinic performance, diagnosis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DN Growth Command Center — V1 (Notion)</a:t>
            </a:r>
            <a:endParaRPr lang="en-US" sz="850"/>
          </a:p>
        </p:txBody>
      </p:sp>
      <p:sp>
        <p:nvSpPr>
          <p:cNvPr id="27" name="Text 24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Growth Office — eight functions, one mandate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Mandate: patient acquisition, clinic activation, conversion, specialty revenue, lifecycle, partnerships, and weekly performance diagnosis.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60904" cy="2011680"/>
          </a:xfrm>
          <a:prstGeom prst="roundRect">
            <a:avLst>
              <a:gd name="adj" fmla="val 318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764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713232" y="22585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 &amp; Revenue Planning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713232" y="282549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growth plan, clinic revenue &amp; volume targets, chair-utilization targets, budget allocation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3392424" y="1600200"/>
            <a:ext cx="2660904" cy="2011680"/>
          </a:xfrm>
          <a:prstGeom prst="roundRect">
            <a:avLst>
              <a:gd name="adj" fmla="val 318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57016" y="1764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57016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3557016" y="22585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Generation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3557016" y="282549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Meta, TikTok, SEO, landing pages, influencers, retargeting, WhatsApp broadcasts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6236208" y="1600200"/>
            <a:ext cx="2660904" cy="2011680"/>
          </a:xfrm>
          <a:prstGeom prst="roundRect">
            <a:avLst>
              <a:gd name="adj" fmla="val 318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00800" y="1764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6400800" y="22585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&amp; Revenue Ops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6400800" y="282549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center, WhatsApp quality, CRM pipeline, speed-to-lead, no-show recovery, plan follow-up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9079992" y="1600200"/>
            <a:ext cx="2660904" cy="2011680"/>
          </a:xfrm>
          <a:prstGeom prst="roundRect">
            <a:avLst>
              <a:gd name="adj" fmla="val 318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44584" y="1764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44584" y="1746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9244584" y="22585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Growth Activation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9244584" y="282549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 Growth Chapter per clinic: DN Acacia, DN Al Maher, DN Tosan, DN Elite DIFC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2660904" cy="2011680"/>
          </a:xfrm>
          <a:prstGeom prst="roundRect">
            <a:avLst>
              <a:gd name="adj" fmla="val 318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3232" y="39593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713232" y="44531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Growth Pods</a:t>
            </a:r>
            <a:endParaRPr lang="en-US" sz="1250"/>
          </a:p>
        </p:txBody>
      </p:sp>
      <p:sp>
        <p:nvSpPr>
          <p:cNvPr id="29" name="Text 27"/>
          <p:cNvSpPr/>
          <p:nvPr/>
        </p:nvSpPr>
        <p:spPr>
          <a:xfrm>
            <a:off x="713232" y="50200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Hygiene, Whitening &amp; Aesthetics, Emergency, Implants, Orthodontics, Pediatric (+ future pods)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3392424" y="3794760"/>
            <a:ext cx="2660904" cy="2011680"/>
          </a:xfrm>
          <a:prstGeom prst="roundRect">
            <a:avLst>
              <a:gd name="adj" fmla="val 318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557016" y="39593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57016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/>
          </a:p>
        </p:txBody>
      </p:sp>
      <p:sp>
        <p:nvSpPr>
          <p:cNvPr id="33" name="Text 31"/>
          <p:cNvSpPr/>
          <p:nvPr/>
        </p:nvSpPr>
        <p:spPr>
          <a:xfrm>
            <a:off x="3557016" y="44531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Lifecycle &amp; Retention</a:t>
            </a:r>
            <a:endParaRPr lang="en-US" sz="1250"/>
          </a:p>
        </p:txBody>
      </p:sp>
      <p:sp>
        <p:nvSpPr>
          <p:cNvPr id="34" name="Text 32"/>
          <p:cNvSpPr/>
          <p:nvPr/>
        </p:nvSpPr>
        <p:spPr>
          <a:xfrm>
            <a:off x="3557016" y="50200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Smile Club, family plans, referral program, reactivation, review generation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6236208" y="3794760"/>
            <a:ext cx="2660904" cy="2011680"/>
          </a:xfrm>
          <a:prstGeom prst="roundRect">
            <a:avLst>
              <a:gd name="adj" fmla="val 318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400800" y="39593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/>
          </a:p>
        </p:txBody>
      </p:sp>
      <p:sp>
        <p:nvSpPr>
          <p:cNvPr id="38" name="Text 36"/>
          <p:cNvSpPr/>
          <p:nvPr/>
        </p:nvSpPr>
        <p:spPr>
          <a:xfrm>
            <a:off x="6400800" y="44531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&amp; Community</a:t>
            </a:r>
            <a:endParaRPr lang="en-US" sz="1250"/>
          </a:p>
        </p:txBody>
      </p:sp>
      <p:sp>
        <p:nvSpPr>
          <p:cNvPr id="39" name="Text 37"/>
          <p:cNvSpPr/>
          <p:nvPr/>
        </p:nvSpPr>
        <p:spPr>
          <a:xfrm>
            <a:off x="6400800" y="50200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Schools, corporates, residential, hotels, gyms, pharmacies, embassies, insurance-adjacent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9079992" y="3794760"/>
            <a:ext cx="2660904" cy="2011680"/>
          </a:xfrm>
          <a:prstGeom prst="roundRect">
            <a:avLst>
              <a:gd name="adj" fmla="val 318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244584" y="39593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244584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/>
          </a:p>
        </p:txBody>
      </p:sp>
      <p:sp>
        <p:nvSpPr>
          <p:cNvPr id="43" name="Text 41"/>
          <p:cNvSpPr/>
          <p:nvPr/>
        </p:nvSpPr>
        <p:spPr>
          <a:xfrm>
            <a:off x="9244584" y="445312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Analytics &amp; Performance</a:t>
            </a:r>
            <a:endParaRPr lang="en-US" sz="1250"/>
          </a:p>
        </p:txBody>
      </p:sp>
      <p:sp>
        <p:nvSpPr>
          <p:cNvPr id="44" name="Text 42"/>
          <p:cNvSpPr/>
          <p:nvPr/>
        </p:nvSpPr>
        <p:spPr>
          <a:xfrm>
            <a:off x="9244584" y="5020056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clinic/specialty, leads by source, CAC, ROAS, utilization, no-show, retention</a:t>
            </a:r>
            <a:endParaRPr lang="en-US" sz="950"/>
          </a:p>
        </p:txBody>
      </p:sp>
      <p:sp>
        <p:nvSpPr>
          <p:cNvPr id="45" name="Text 43"/>
          <p:cNvSpPr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team (immediate): Founder/CEO · Head of Growth · Growth PM · CRM/Conversion Lead · Performance Marketing · Clinic Growth Coordinator · DN Studio Lead (shared) · Data support</a:t>
            </a:r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DN Growth Command Center — V1, Growth Office structure (Notion)</a:t>
            </a:r>
            <a:endParaRPr lang="en-US" sz="850"/>
          </a:p>
        </p:txBody>
      </p:sp>
      <p:sp>
        <p:nvSpPr>
          <p:cNvPr id="47" name="Text 45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GENERATION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Demand Generation Engine — a five-layer flywheel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that makes every new clinic start full: Attention → Offer → Experience → Relationship → Intelligence, each cycle stronger.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03720" cy="749808"/>
          </a:xfrm>
          <a:prstGeom prst="roundRect">
            <a:avLst>
              <a:gd name="adj" fmla="val 8537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773936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Magnet (awareness)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1280160" y="19659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+ organic campaigns, PR hooks, influencer &amp; community voice, SEO &amp; local ranking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6903720" cy="749808"/>
          </a:xfrm>
          <a:prstGeom prst="roundRect">
            <a:avLst>
              <a:gd name="adj" fmla="val 8537"/>
            </a:avLst>
          </a:prstGeom>
          <a:solidFill>
            <a:srgbClr val="F7F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2633472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1280160" y="25511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Engine (conversion trigger)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1280160" y="282549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offers, bundles, limited-time campaigns, membership schemes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548640" y="3319272"/>
            <a:ext cx="6903720" cy="749808"/>
          </a:xfrm>
          <a:prstGeom prst="roundRect">
            <a:avLst>
              <a:gd name="adj" fmla="val 8537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3232" y="349300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280160" y="34107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Conversion (in-clinic)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1280160" y="36850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experience, curated onboarding, cross-offer upsell: whitening → aligner → implant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548640" y="4178808"/>
            <a:ext cx="6903720" cy="749808"/>
          </a:xfrm>
          <a:prstGeom prst="roundRect">
            <a:avLst>
              <a:gd name="adj" fmla="val 8537"/>
            </a:avLst>
          </a:prstGeom>
          <a:solidFill>
            <a:srgbClr val="F7F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4352544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4334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1280160" y="427024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(retention &amp; reactivation)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1280160" y="454456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automations, WhatsApp recall flows, subscription-style maintenance programs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548640" y="5038344"/>
            <a:ext cx="6903720" cy="749808"/>
          </a:xfrm>
          <a:prstGeom prst="roundRect">
            <a:avLst>
              <a:gd name="adj" fmla="val 8537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3232" y="521208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3232" y="5193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1280160" y="51297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 (optimization loop)</a:t>
            </a:r>
            <a:endParaRPr lang="en-US" sz="1250"/>
          </a:p>
        </p:txBody>
      </p:sp>
      <p:sp>
        <p:nvSpPr>
          <p:cNvPr id="29" name="Text 27"/>
          <p:cNvSpPr/>
          <p:nvPr/>
        </p:nvSpPr>
        <p:spPr>
          <a:xfrm>
            <a:off x="1280160" y="540410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performance analytics, AI ad optimization, feedback loops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7726680" y="1600200"/>
            <a:ext cx="3913632" cy="4224528"/>
          </a:xfrm>
          <a:prstGeom prst="roundRect">
            <a:avLst>
              <a:gd name="adj" fmla="val 1636"/>
            </a:avLst>
          </a:prstGeom>
          <a:solidFill>
            <a:srgbClr val="0B3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973568" y="18105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phases of maturity</a:t>
            </a:r>
            <a:endParaRPr lang="en-US" sz="1500"/>
          </a:p>
        </p:txBody>
      </p:sp>
      <p:sp>
        <p:nvSpPr>
          <p:cNvPr id="32" name="Text 30"/>
          <p:cNvSpPr/>
          <p:nvPr/>
        </p:nvSpPr>
        <p:spPr>
          <a:xfrm>
            <a:off x="7973568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Build (0→1)</a:t>
            </a:r>
            <a:endParaRPr lang="en-US" sz="1250"/>
          </a:p>
        </p:txBody>
      </p:sp>
      <p:sp>
        <p:nvSpPr>
          <p:cNvPr id="33" name="Text 31"/>
          <p:cNvSpPr/>
          <p:nvPr/>
        </p:nvSpPr>
        <p:spPr>
          <a:xfrm>
            <a:off x="7973568" y="2514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system + CRM + conversion SOP. KPI: patient acquisition cost.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7973568" y="3429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Scale (1→N)</a:t>
            </a:r>
            <a:endParaRPr lang="en-US" sz="1250"/>
          </a:p>
        </p:txBody>
      </p:sp>
      <p:sp>
        <p:nvSpPr>
          <p:cNvPr id="35" name="Text 33"/>
          <p:cNvSpPr/>
          <p:nvPr/>
        </p:nvSpPr>
        <p:spPr>
          <a:xfrm>
            <a:off x="7973568" y="37033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micro-campaigns per clinic, geo-SEO, influencer alliances. KPI: volume + cost per lead.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7973568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Automate (N→∞)</a:t>
            </a:r>
            <a:endParaRPr lang="en-US" sz="1250"/>
          </a:p>
        </p:txBody>
      </p:sp>
      <p:sp>
        <p:nvSpPr>
          <p:cNvPr id="37" name="Text 35"/>
          <p:cNvSpPr/>
          <p:nvPr/>
        </p:nvSpPr>
        <p:spPr>
          <a:xfrm>
            <a:off x="7973568" y="4892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Predictive, self-optimizing: AI ads, look-alikes, retention automation. KPI: LTV &amp; ROI.</a:t>
            </a:r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flywheel spins, every new clinic plugs in — the system already knows who to target, what to offer, and how to convert.</a:t>
            </a:r>
            <a:endParaRPr lang="en-US" sz="1150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Demand Generation Engine (Notion, Growth OS reference library)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ACQUISITION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13 Demand Lanes (A–M) — the commercial architecture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no campaign, offer, hire or content goes live without a lane assignment. If it doesn't trace to a lane, it doesn't get funded.</a:t>
            </a:r>
            <a:endParaRPr lang="en-US" sz="120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481328"/>
          <a:ext cx="42062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572768"/>
          <a:ext cx="6748272" cy="4224528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LTV:CAC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Cosmetic &amp; Smile Design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&amp; Routine Care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Implants &amp; Full-Arch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&amp; Urgent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&amp; Insurance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Specialty COE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Aesthetic Adjacency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E9B4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Tourism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E9B4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Children's Dentistry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Orthodontics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Periodontics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9DB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Oral Surgery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9DB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TMJ / Night Guards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9DB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15×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92040" y="5870448"/>
            <a:ext cx="6748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commands:  </a:t>
            </a:r>
            <a:r>
              <a:rPr lang="en-US" sz="100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r>
              <a:rPr lang="en-US" sz="10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unrestricted within budget · </a:t>
            </a:r>
            <a:r>
              <a:rPr lang="en-US" sz="10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r>
              <a:rPr lang="en-US" sz="10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defined quarterly budget · </a:t>
            </a:r>
            <a:r>
              <a:rPr lang="en-US" sz="1000" b="1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r>
              <a:rPr lang="en-US" sz="10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capped AED 15K/mo · </a:t>
            </a:r>
            <a:r>
              <a:rPr lang="en-US" sz="1000" b="1">
                <a:solidFill>
                  <a:srgbClr val="9DB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r>
              <a:rPr lang="en-US" sz="10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acquisition spend</a:t>
            </a:r>
            <a:endParaRPr lang="en-US" sz="100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13 Demand Lanes v2.0 — Full Architecture (Notion, Founding Partner Strategy Room)</a:t>
            </a:r>
            <a:endParaRPr lang="en-US" sz="850"/>
          </a:p>
        </p:txBody>
      </p:sp>
      <p:sp>
        <p:nvSpPr>
          <p:cNvPr id="9" name="Text 5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LANES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invest without restriction — Lanes A, B, C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funds the portfolio; Family anchors LTV; Implants deliver the highest revenue per chair-hour.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4773168"/>
          </a:xfrm>
          <a:prstGeom prst="roundRect">
            <a:avLst>
              <a:gd name="adj" fmla="val 177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1325880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&amp; Smile Design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731520" y="23408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731520" y="2596896"/>
            <a:ext cx="3255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design case: AED 35–60K · LTV 55–90K (3yr)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AED 1.0–1.6K → LTV:CAC &gt; 38×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→ acceptance target &gt; 62% (industry 45–55%)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documented case ⇒ 3–5 organic referrals</a:t>
            </a:r>
            <a:endParaRPr lang="en-US" sz="98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ACTIONS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731520" y="4462272"/>
            <a:ext cx="3255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DSD visual simulation in every cosmetic consult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documented cases / month / clinic (content engine)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presented on any case &gt; AED 15K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micro-influencers per catchment</a:t>
            </a:r>
            <a:endParaRPr lang="en-US" sz="980"/>
          </a:p>
        </p:txBody>
      </p:sp>
      <p:sp>
        <p:nvSpPr>
          <p:cNvPr id="13" name="Shape 11"/>
          <p:cNvSpPr/>
          <p:nvPr/>
        </p:nvSpPr>
        <p:spPr>
          <a:xfrm>
            <a:off x="4370832" y="1554480"/>
            <a:ext cx="3611880" cy="4773168"/>
          </a:xfrm>
          <a:prstGeom prst="roundRect">
            <a:avLst>
              <a:gd name="adj" fmla="val 177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53712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5371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700"/>
          </a:p>
        </p:txBody>
      </p:sp>
      <p:sp>
        <p:nvSpPr>
          <p:cNvPr id="16" name="Text 14"/>
          <p:cNvSpPr/>
          <p:nvPr/>
        </p:nvSpPr>
        <p:spPr>
          <a:xfrm>
            <a:off x="5148072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 Routine Care</a:t>
            </a:r>
            <a:endParaRPr lang="en-US" sz="1350"/>
          </a:p>
        </p:txBody>
      </p:sp>
      <p:sp>
        <p:nvSpPr>
          <p:cNvPr id="17" name="Text 15"/>
          <p:cNvSpPr/>
          <p:nvPr/>
        </p:nvSpPr>
        <p:spPr>
          <a:xfrm>
            <a:off x="4553712" y="23408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4553712" y="2596896"/>
            <a:ext cx="3255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 4: AED 12–25K/yr routine · LTV 22–45K (3yr)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per family AED 350–700 → LTV:CAC &gt; 18×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adherence target &gt; 58% (Dubai avg ~35%)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Cross-booking target &gt; 45% households with 2+ active</a:t>
            </a:r>
            <a:endParaRPr lang="en-US" sz="980"/>
          </a:p>
        </p:txBody>
      </p:sp>
      <p:sp>
        <p:nvSpPr>
          <p:cNvPr id="19" name="Text 17"/>
          <p:cNvSpPr/>
          <p:nvPr/>
        </p:nvSpPr>
        <p:spPr>
          <a:xfrm>
            <a:off x="4553712" y="42062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ACTIONS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4553712" y="4462272"/>
            <a:ext cx="3255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registration programme + priority slots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automation at M5.5 (WhatsApp) + M6.5 (call)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Daman + Aman insurance panels — end of Q1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residential buildings per catchment, on-site dental days</a:t>
            </a:r>
            <a:endParaRPr lang="en-US" sz="980"/>
          </a:p>
        </p:txBody>
      </p:sp>
      <p:sp>
        <p:nvSpPr>
          <p:cNvPr id="21" name="Shape 19"/>
          <p:cNvSpPr/>
          <p:nvPr/>
        </p:nvSpPr>
        <p:spPr>
          <a:xfrm>
            <a:off x="8193024" y="1554480"/>
            <a:ext cx="3611880" cy="4773168"/>
          </a:xfrm>
          <a:prstGeom prst="roundRect">
            <a:avLst>
              <a:gd name="adj" fmla="val 177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75904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75904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/>
          </a:p>
        </p:txBody>
      </p:sp>
      <p:sp>
        <p:nvSpPr>
          <p:cNvPr id="24" name="Text 22"/>
          <p:cNvSpPr/>
          <p:nvPr/>
        </p:nvSpPr>
        <p:spPr>
          <a:xfrm>
            <a:off x="8970264" y="1755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Implants &amp; Full-Arch</a:t>
            </a:r>
            <a:endParaRPr lang="en-US" sz="1350"/>
          </a:p>
        </p:txBody>
      </p:sp>
      <p:sp>
        <p:nvSpPr>
          <p:cNvPr id="25" name="Text 23"/>
          <p:cNvSpPr/>
          <p:nvPr/>
        </p:nvSpPr>
        <p:spPr>
          <a:xfrm>
            <a:off x="8375904" y="23408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8375904" y="2596896"/>
            <a:ext cx="32552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All-on-4 bilateral: AED 72–100K per case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45–80K · CAC 1.5–2.8K → LTV:CAC &gt; 52×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per chair-hour in the portfolio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exceeds current clinical supply</a:t>
            </a:r>
            <a:endParaRPr lang="en-US" sz="980"/>
          </a:p>
        </p:txBody>
      </p:sp>
      <p:sp>
        <p:nvSpPr>
          <p:cNvPr id="27" name="Text 25"/>
          <p:cNvSpPr/>
          <p:nvPr/>
        </p:nvSpPr>
        <p:spPr>
          <a:xfrm>
            <a:off x="8375904" y="42062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ACTIONS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8375904" y="4462272"/>
            <a:ext cx="32552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“Implant Confidence” 45-min consult + CBCT + 3D plan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pages in Arabic, Hindi, French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financing: AED 5K deposit + monthly</a:t>
            </a:r>
            <a:endParaRPr lang="en-US" sz="98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extraction triggers an implant consult referral</a:t>
            </a:r>
            <a:endParaRPr lang="en-US" sz="98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13 Demand Lanes v2.0 — Lanes A, B, C (Notion)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our targets compare to the Dubai market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lane target is set above the Dubai industry norm — the operating system is what closes the gap.</a:t>
            </a:r>
            <a:endParaRPr lang="en-US" sz="120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572768"/>
          <a:ext cx="55778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263640" y="1572768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715000"/>
            <a:ext cx="11091672" cy="621792"/>
          </a:xfrm>
          <a:prstGeom prst="roundRect">
            <a:avLst>
              <a:gd name="adj" fmla="val 10294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731520" y="5788152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</a:t>
            </a: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adherence targeted at 58% vs a ~35% Dubai average; cosmetic acceptance at 62% vs 45–55% industry; every OWN/BUILD lane's LTV:CAC target sits above the category-leader threshold documented in the lane architecture.</a:t>
            </a:r>
            <a:endParaRPr lang="en-US" sz="1050"/>
          </a:p>
        </p:txBody>
      </p:sp>
      <p:sp>
        <p:nvSpPr>
          <p:cNvPr id="9" name="Text 5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13 Demand Lanes v2.0 — lane unit-economics tables, targets vs Dubai benchmarks (Notion)</a:t>
            </a:r>
            <a:endParaRPr lang="en-US" sz="850"/>
          </a:p>
        </p:txBody>
      </p:sp>
      <p:sp>
        <p:nvSpPr>
          <p:cNvPr id="10" name="Text 6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PILOT · RUN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rest of the portfolio — disciplined by command level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— structured quarterly investment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7223760" cy="621792"/>
          </a:xfrm>
          <a:prstGeom prst="roundRect">
            <a:avLst>
              <a:gd name="adj" fmla="val 10294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76656" y="181965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6656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1207008" y="175564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&amp; Urgent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3154680" y="1737360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AED 120–350; &gt;40% convert to lifetime patients; 2 protected same-day slots/clinic; booking &lt; 30 min from first contact</a:t>
            </a:r>
            <a:endParaRPr lang="en-US" sz="88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7223760" cy="621792"/>
          </a:xfrm>
          <a:prstGeom prst="roundRect">
            <a:avLst>
              <a:gd name="adj" fmla="val 10294"/>
            </a:avLst>
          </a:prstGeom>
          <a:solidFill>
            <a:srgbClr val="F7F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76656" y="253288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6656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1207008" y="246888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&amp; Insurance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3154680" y="2450592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50-employee SME contract = AED 75–150K/yr at near-zero CAC; Daman + Aman panels Q1; target 8–12 contracts per clinic in Year 1</a:t>
            </a:r>
            <a:endParaRPr lang="en-US" sz="880"/>
          </a:p>
        </p:txBody>
      </p:sp>
      <p:sp>
        <p:nvSpPr>
          <p:cNvPr id="15" name="Shape 13"/>
          <p:cNvSpPr/>
          <p:nvPr/>
        </p:nvSpPr>
        <p:spPr>
          <a:xfrm>
            <a:off x="548640" y="3127248"/>
            <a:ext cx="7223760" cy="621792"/>
          </a:xfrm>
          <a:prstGeom prst="roundRect">
            <a:avLst>
              <a:gd name="adj" fmla="val 10294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6656" y="32461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207008" y="318211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COE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3154680" y="3163824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Hire/partner 1 periodontist + 1 endodontist; formal GP referral programme; designate one clinic as Specialty Hub</a:t>
            </a:r>
            <a:endParaRPr lang="en-US" sz="88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7223760" cy="621792"/>
          </a:xfrm>
          <a:prstGeom prst="roundRect">
            <a:avLst>
              <a:gd name="adj" fmla="val 10294"/>
            </a:avLst>
          </a:prstGeom>
          <a:solidFill>
            <a:srgbClr val="F7F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6656" y="395935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1207008" y="389534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Children's Dentistry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3154680" y="3877056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“My First Dental Visit” protocol; school &amp; nursery screenings; 70% of child patients bring 1+ family member within 3 months</a:t>
            </a:r>
            <a:endParaRPr lang="en-US" sz="880"/>
          </a:p>
        </p:txBody>
      </p:sp>
      <p:sp>
        <p:nvSpPr>
          <p:cNvPr id="25" name="Shape 23"/>
          <p:cNvSpPr/>
          <p:nvPr/>
        </p:nvSpPr>
        <p:spPr>
          <a:xfrm>
            <a:off x="548640" y="4553712"/>
            <a:ext cx="7223760" cy="621792"/>
          </a:xfrm>
          <a:prstGeom prst="roundRect">
            <a:avLst>
              <a:gd name="adj" fmla="val 10294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6656" y="467258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6656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1207008" y="460857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Orthodontics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3154680" y="4590288"/>
            <a:ext cx="4498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Invisalign Diamond Provider commitment → co-marketing + rebates; case value AED 16–24K; LTV:CAC &gt; 32×; 18–24 months of recall anchor</a:t>
            </a:r>
            <a:endParaRPr lang="en-US" sz="880"/>
          </a:p>
        </p:txBody>
      </p:sp>
      <p:sp>
        <p:nvSpPr>
          <p:cNvPr id="30" name="Text 28"/>
          <p:cNvSpPr/>
          <p:nvPr/>
        </p:nvSpPr>
        <p:spPr>
          <a:xfrm>
            <a:off x="80010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capped at AED 15K/month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8001000" y="1700784"/>
            <a:ext cx="3639312" cy="1115568"/>
          </a:xfrm>
          <a:prstGeom prst="roundRect">
            <a:avLst>
              <a:gd name="adj" fmla="val 5738"/>
            </a:avLst>
          </a:prstGeom>
          <a:solidFill>
            <a:srgbClr val="FBF3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29016" y="1828800"/>
            <a:ext cx="384048" cy="384048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29016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300"/>
          </a:p>
        </p:txBody>
      </p:sp>
      <p:sp>
        <p:nvSpPr>
          <p:cNvPr id="34" name="Text 32"/>
          <p:cNvSpPr/>
          <p:nvPr/>
        </p:nvSpPr>
        <p:spPr>
          <a:xfrm>
            <a:off x="8659368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 Adjacency</a:t>
            </a:r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8183880" y="21214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Botox / fillers on cosmetic patients. 1 clinic × 1 provider × 6 months. Go if &gt;15% uptake from Lane A patients.</a:t>
            </a:r>
            <a:endParaRPr lang="en-US" sz="880"/>
          </a:p>
        </p:txBody>
      </p:sp>
      <p:sp>
        <p:nvSpPr>
          <p:cNvPr id="36" name="Shape 34"/>
          <p:cNvSpPr/>
          <p:nvPr/>
        </p:nvSpPr>
        <p:spPr>
          <a:xfrm>
            <a:off x="8001000" y="2907792"/>
            <a:ext cx="3639312" cy="1115568"/>
          </a:xfrm>
          <a:prstGeom prst="roundRect">
            <a:avLst>
              <a:gd name="adj" fmla="val 5738"/>
            </a:avLst>
          </a:prstGeom>
          <a:solidFill>
            <a:srgbClr val="FBF3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129016" y="3035808"/>
            <a:ext cx="384048" cy="384048"/>
          </a:xfrm>
          <a:prstGeom prst="ellipse">
            <a:avLst/>
          </a:prstGeom>
          <a:solidFill>
            <a:srgbClr val="E9B4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129016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300"/>
          </a:p>
        </p:txBody>
      </p:sp>
      <p:sp>
        <p:nvSpPr>
          <p:cNvPr id="39" name="Text 37"/>
          <p:cNvSpPr/>
          <p:nvPr/>
        </p:nvSpPr>
        <p:spPr>
          <a:xfrm>
            <a:off x="8659368" y="3017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Tourism</a:t>
            </a:r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8183880" y="332841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multilingual landing pages (AR / HI / FR) + origin-market campaigns. Go: &gt;10 intl leads/mo @ 60 days, &gt;2 conversions/mo @ 90 days.</a:t>
            </a:r>
            <a:endParaRPr lang="en-US" sz="880"/>
          </a:p>
        </p:txBody>
      </p:sp>
      <p:sp>
        <p:nvSpPr>
          <p:cNvPr id="41" name="Text 39"/>
          <p:cNvSpPr/>
          <p:nvPr/>
        </p:nvSpPr>
        <p:spPr>
          <a:xfrm>
            <a:off x="8001000" y="4224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9DB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— serve demand, no acquisition spend</a:t>
            </a:r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8001000" y="4553712"/>
            <a:ext cx="3639312" cy="1481328"/>
          </a:xfrm>
          <a:prstGeom prst="roundRect">
            <a:avLst>
              <a:gd name="adj" fmla="val 4321"/>
            </a:avLst>
          </a:prstGeom>
          <a:solidFill>
            <a:srgbClr val="F7F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156448" y="4681728"/>
            <a:ext cx="3364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— Periodontics: upgrade to BUILD when specialty hub + periodontist live</a:t>
            </a:r>
            <a:endParaRPr lang="en-US" sz="88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8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Oral Surgery: every complex extraction feeds Lane C implant consults</a:t>
            </a:r>
            <a:endParaRPr lang="en-US" sz="880"/>
          </a:p>
          <a:p>
            <a:pPr marL="127000" indent="-127000">
              <a:buSzPct val="100000"/>
              <a:buChar char="•"/>
            </a:pPr>
            <a:r>
              <a:rPr lang="en-US" sz="8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TMJ / Night Guards: GP upsell now; sleep-dental programme at 8+ clinics</a:t>
            </a:r>
            <a:endParaRPr lang="en-US" sz="880"/>
          </a:p>
        </p:txBody>
      </p:sp>
      <p:sp>
        <p:nvSpPr>
          <p:cNvPr id="44" name="Text 42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13 Demand Lanes v2.0 — Lanes D–M (Notion)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health scorecard — monthly operating targets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dashboard the team should report against every week.</a:t>
            </a:r>
            <a:endParaRPr lang="en-US" sz="12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229600" cy="43891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leads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rate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revenue target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Cosmetic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60–90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45%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62%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180K–350K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— Family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150–250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55%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120K–220K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Implants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30–50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42%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55%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200K–420K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Emergency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Same-day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75%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40K–80K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— Corporate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60K–140K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— Specialty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20–35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60%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65%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50K–100K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— Aesthetic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E9B4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35%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20K–45K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 — Tourism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E9B4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35%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45%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30K–100K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— Kids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40–70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60%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75%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25K–55K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— Ortho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40–60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45%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50%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80K–160K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K, L, M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9DB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only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AED 30K–60K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098280" y="1600200"/>
            <a:ext cx="2542032" cy="4480560"/>
          </a:xfrm>
          <a:prstGeom prst="roundRect">
            <a:avLst>
              <a:gd name="adj" fmla="val 2518"/>
            </a:avLst>
          </a:prstGeom>
          <a:solidFill>
            <a:srgbClr val="0B3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281160" y="1810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all lanes hit target</a:t>
            </a:r>
            <a:endParaRPr lang="en-US" sz="1400"/>
          </a:p>
        </p:txBody>
      </p:sp>
      <p:sp>
        <p:nvSpPr>
          <p:cNvPr id="8" name="Text 5"/>
          <p:cNvSpPr/>
          <p:nvPr/>
        </p:nvSpPr>
        <p:spPr>
          <a:xfrm>
            <a:off x="9281160" y="2377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AED</a:t>
            </a:r>
            <a:endParaRPr lang="en-US" sz="2400"/>
          </a:p>
          <a:p>
            <a:pPr marL="0" indent="0">
              <a:buNone/>
            </a:pPr>
            <a:r>
              <a:rPr lang="en-US" sz="2400" b="1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835K–1.73M</a:t>
            </a:r>
            <a:endParaRPr lang="en-US" sz="2400"/>
          </a:p>
        </p:txBody>
      </p:sp>
      <p:sp>
        <p:nvSpPr>
          <p:cNvPr id="9" name="Text 6"/>
          <p:cNvSpPr/>
          <p:nvPr/>
        </p:nvSpPr>
        <p:spPr>
          <a:xfrm>
            <a:off x="9281160" y="33649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monthly revenue target across all 13 lanes</a:t>
            </a:r>
            <a:endParaRPr lang="en-US" sz="1050"/>
          </a:p>
        </p:txBody>
      </p:sp>
      <p:sp>
        <p:nvSpPr>
          <p:cNvPr id="10" name="Text 7"/>
          <p:cNvSpPr/>
          <p:nvPr/>
        </p:nvSpPr>
        <p:spPr>
          <a:xfrm>
            <a:off x="9281160" y="4114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360–595+</a:t>
            </a:r>
            <a:endParaRPr lang="en-US" sz="2000"/>
          </a:p>
        </p:txBody>
      </p:sp>
      <p:sp>
        <p:nvSpPr>
          <p:cNvPr id="5" name="Text 8"/>
          <p:cNvSpPr/>
          <p:nvPr/>
        </p:nvSpPr>
        <p:spPr>
          <a:xfrm>
            <a:off x="9281160" y="45537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leads across active lanes</a:t>
            </a:r>
            <a:endParaRPr lang="en-US" sz="105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13 Demand Lanes v2.0 — Portfolio Health Scorecard (Notion). Range totals computed from lane targets.</a:t>
            </a:r>
            <a:endParaRPr lang="en-US" sz="850"/>
          </a:p>
        </p:txBody>
      </p:sp>
      <p:sp>
        <p:nvSpPr>
          <p:cNvPr id="13" name="Text 10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Operations control room — the non-negotiables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 #1: fix conversion leakage before scaling paid spend.</a:t>
            </a:r>
            <a:endParaRPr lang="en-US" sz="120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5486400" cy="36576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to lead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5 minutes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first response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5 minutes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answer rate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90%+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→ booking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35–50% by source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→ show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70–85%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No-show rate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15–20%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Treatment-plan follow-up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within 24 hours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92240" y="16276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control checklist</a:t>
            </a:r>
            <a:endParaRPr lang="en-US" sz="1550"/>
          </a:p>
        </p:txBody>
      </p:sp>
      <p:sp>
        <p:nvSpPr>
          <p:cNvPr id="7" name="Shape 4"/>
          <p:cNvSpPr/>
          <p:nvPr/>
        </p:nvSpPr>
        <p:spPr>
          <a:xfrm>
            <a:off x="6492240" y="209397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92240" y="2084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9" name="Text 6"/>
          <p:cNvSpPr/>
          <p:nvPr/>
        </p:nvSpPr>
        <p:spPr>
          <a:xfrm>
            <a:off x="6903720" y="20482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calls reviewed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6492240" y="252374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9224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5" name="Text 9"/>
          <p:cNvSpPr/>
          <p:nvPr/>
        </p:nvSpPr>
        <p:spPr>
          <a:xfrm>
            <a:off x="6903720" y="247802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leads contacted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6492240" y="295351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9224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6903720" y="29077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conversations triaged</a:t>
            </a:r>
            <a:endParaRPr lang="en-US" sz="1150"/>
          </a:p>
        </p:txBody>
      </p:sp>
      <p:sp>
        <p:nvSpPr>
          <p:cNvPr id="16" name="Shape 13"/>
          <p:cNvSpPr/>
          <p:nvPr/>
        </p:nvSpPr>
        <p:spPr>
          <a:xfrm>
            <a:off x="6492240" y="338328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8" name="Text 15"/>
          <p:cNvSpPr/>
          <p:nvPr/>
        </p:nvSpPr>
        <p:spPr>
          <a:xfrm>
            <a:off x="6903720" y="33375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confirmed</a:t>
            </a:r>
            <a:endParaRPr lang="en-US" sz="1150"/>
          </a:p>
        </p:txBody>
      </p:sp>
      <p:sp>
        <p:nvSpPr>
          <p:cNvPr id="19" name="Shape 16"/>
          <p:cNvSpPr/>
          <p:nvPr/>
        </p:nvSpPr>
        <p:spPr>
          <a:xfrm>
            <a:off x="6492240" y="3813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9224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21" name="Text 18"/>
          <p:cNvSpPr/>
          <p:nvPr/>
        </p:nvSpPr>
        <p:spPr>
          <a:xfrm>
            <a:off x="6903720" y="37673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appointments confirmed</a:t>
            </a:r>
            <a:endParaRPr lang="en-US" sz="1150"/>
          </a:p>
        </p:txBody>
      </p:sp>
      <p:sp>
        <p:nvSpPr>
          <p:cNvPr id="22" name="Shape 19"/>
          <p:cNvSpPr/>
          <p:nvPr/>
        </p:nvSpPr>
        <p:spPr>
          <a:xfrm>
            <a:off x="6492240" y="4242816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92240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24" name="Text 21"/>
          <p:cNvSpPr/>
          <p:nvPr/>
        </p:nvSpPr>
        <p:spPr>
          <a:xfrm>
            <a:off x="6903720" y="419709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No-shows recovered</a:t>
            </a:r>
            <a:endParaRPr lang="en-US" sz="1150"/>
          </a:p>
        </p:txBody>
      </p:sp>
      <p:sp>
        <p:nvSpPr>
          <p:cNvPr id="25" name="Shape 22"/>
          <p:cNvSpPr/>
          <p:nvPr/>
        </p:nvSpPr>
        <p:spPr>
          <a:xfrm>
            <a:off x="6492240" y="4672584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92240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27" name="Text 24"/>
          <p:cNvSpPr/>
          <p:nvPr/>
        </p:nvSpPr>
        <p:spPr>
          <a:xfrm>
            <a:off x="6903720" y="4626864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plans followed up</a:t>
            </a:r>
            <a:endParaRPr lang="en-US" sz="1150"/>
          </a:p>
        </p:txBody>
      </p:sp>
      <p:sp>
        <p:nvSpPr>
          <p:cNvPr id="28" name="Shape 25"/>
          <p:cNvSpPr/>
          <p:nvPr/>
        </p:nvSpPr>
        <p:spPr>
          <a:xfrm>
            <a:off x="6492240" y="51023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492240" y="5093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30" name="Text 27"/>
          <p:cNvSpPr/>
          <p:nvPr/>
        </p:nvSpPr>
        <p:spPr>
          <a:xfrm>
            <a:off x="6903720" y="5056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Lost-lead reasons tagged</a:t>
            </a:r>
            <a:endParaRPr lang="en-US" sz="1150"/>
          </a:p>
        </p:txBody>
      </p:sp>
      <p:sp>
        <p:nvSpPr>
          <p:cNvPr id="31" name="Shape 28"/>
          <p:cNvSpPr/>
          <p:nvPr/>
        </p:nvSpPr>
        <p:spPr>
          <a:xfrm>
            <a:off x="6492240" y="5532120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492240" y="5522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33" name="Text 30"/>
          <p:cNvSpPr/>
          <p:nvPr/>
        </p:nvSpPr>
        <p:spPr>
          <a:xfrm>
            <a:off x="6903720" y="54864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source tracked</a:t>
            </a:r>
            <a:endParaRPr lang="en-US" sz="1150"/>
          </a:p>
        </p:txBody>
      </p:sp>
      <p:sp>
        <p:nvSpPr>
          <p:cNvPr id="34" name="Text 3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CRM / Conversion Lead — reports in the weekly Growth Meeting. Funnel: Impressions → Clicks → Leads → Contacted → Booked → Showed → Plan → Accepted → Revenue.</a:t>
            </a:r>
            <a:endParaRPr lang="en-US" sz="1050"/>
          </a:p>
        </p:txBody>
      </p:sp>
      <p:sp>
        <p:nvSpPr>
          <p:cNvPr id="35" name="Text 32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DN Growth Command Center — Conversion &amp; Revenue Operations control room (Notion)</a:t>
            </a:r>
            <a:endParaRPr lang="en-US" sz="850"/>
          </a:p>
        </p:txBody>
      </p:sp>
      <p:sp>
        <p:nvSpPr>
          <p:cNvPr id="36" name="Text 33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 Growth Chapters &amp; Specialty Pods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executed clinic-by-clinic and service-line-by-service-line — not as one generic campaign.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660904" cy="1234440"/>
          </a:xfrm>
          <a:prstGeom prst="roundRect">
            <a:avLst>
              <a:gd name="adj" fmla="val 5185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Acacia</a:t>
            </a:r>
            <a:endParaRPr lang="en-US" sz="1350"/>
          </a:p>
        </p:txBody>
      </p:sp>
      <p:sp>
        <p:nvSpPr>
          <p:cNvPr id="7" name="Text 5"/>
          <p:cNvSpPr/>
          <p:nvPr/>
        </p:nvSpPr>
        <p:spPr>
          <a:xfrm>
            <a:off x="713232" y="20482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chapter live</a:t>
            </a:r>
            <a:endParaRPr lang="en-US" sz="980"/>
          </a:p>
        </p:txBody>
      </p:sp>
      <p:sp>
        <p:nvSpPr>
          <p:cNvPr id="8" name="Shape 6"/>
          <p:cNvSpPr/>
          <p:nvPr/>
        </p:nvSpPr>
        <p:spPr>
          <a:xfrm>
            <a:off x="3392424" y="1572768"/>
            <a:ext cx="2660904" cy="1234440"/>
          </a:xfrm>
          <a:prstGeom prst="roundRect">
            <a:avLst>
              <a:gd name="adj" fmla="val 5185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57016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Al Maher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3557016" y="20482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asset — 3 chairs to unlock in 2027</a:t>
            </a:r>
            <a:endParaRPr lang="en-US" sz="980"/>
          </a:p>
        </p:txBody>
      </p:sp>
      <p:sp>
        <p:nvSpPr>
          <p:cNvPr id="11" name="Shape 9"/>
          <p:cNvSpPr/>
          <p:nvPr/>
        </p:nvSpPr>
        <p:spPr>
          <a:xfrm>
            <a:off x="6236208" y="1572768"/>
            <a:ext cx="2660904" cy="1234440"/>
          </a:xfrm>
          <a:prstGeom prst="roundRect">
            <a:avLst>
              <a:gd name="adj" fmla="val 5185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Tosan</a:t>
            </a:r>
            <a:endParaRPr lang="en-US" sz="1350"/>
          </a:p>
        </p:txBody>
      </p:sp>
      <p:sp>
        <p:nvSpPr>
          <p:cNvPr id="13" name="Text 11"/>
          <p:cNvSpPr/>
          <p:nvPr/>
        </p:nvSpPr>
        <p:spPr>
          <a:xfrm>
            <a:off x="6400800" y="20482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 engine — 5 chairs fully active</a:t>
            </a:r>
            <a:endParaRPr lang="en-US" sz="980"/>
          </a:p>
        </p:txBody>
      </p:sp>
      <p:sp>
        <p:nvSpPr>
          <p:cNvPr id="14" name="Shape 12"/>
          <p:cNvSpPr/>
          <p:nvPr/>
        </p:nvSpPr>
        <p:spPr>
          <a:xfrm>
            <a:off x="9079992" y="1572768"/>
            <a:ext cx="2660904" cy="1234440"/>
          </a:xfrm>
          <a:prstGeom prst="roundRect">
            <a:avLst>
              <a:gd name="adj" fmla="val 5185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244584" y="17190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Elite DIFC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9244584" y="204825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— Index Tower, opening Q1-2027</a:t>
            </a:r>
            <a:endParaRPr lang="en-US" sz="980"/>
          </a:p>
        </p:txBody>
      </p:sp>
      <p:sp>
        <p:nvSpPr>
          <p:cNvPr id="17" name="Text 15"/>
          <p:cNvSpPr/>
          <p:nvPr/>
        </p:nvSpPr>
        <p:spPr>
          <a:xfrm>
            <a:off x="548640" y="30175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Clinic Growth Chapter defines:</a:t>
            </a:r>
            <a:endParaRPr lang="en-US" sz="1450"/>
          </a:p>
        </p:txBody>
      </p:sp>
      <p:sp>
        <p:nvSpPr>
          <p:cNvPr id="18" name="Text 16"/>
          <p:cNvSpPr/>
          <p:nvPr/>
        </p:nvSpPr>
        <p:spPr>
          <a:xfrm>
            <a:off x="548640" y="3364992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 positioning, catchment type, priority patient segments, constraints</a:t>
            </a:r>
            <a:endParaRPr lang="en-US" sz="105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chairs, doctor hours, occupancy vs target, empty slots, doctors needing patients</a:t>
            </a:r>
            <a:endParaRPr lang="en-US" sz="105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catchment map: residential, schools, offices, hotels, gyms, community groups, embassies</a:t>
            </a:r>
            <a:endParaRPr lang="en-US" sz="105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priority services only — never more</a:t>
            </a:r>
            <a:endParaRPr lang="en-US" sz="105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activation plan: campaign, channel, owner, target KPI</a:t>
            </a:r>
            <a:endParaRPr lang="en-US" sz="105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clinic KPIs: leads → bookings → show-ups → treatment starts → revenue → reviews → utilization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67512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Specialty Growth Pods (initial six):</a:t>
            </a:r>
            <a:endParaRPr lang="en-US" sz="1450"/>
          </a:p>
        </p:txBody>
      </p:sp>
      <p:sp>
        <p:nvSpPr>
          <p:cNvPr id="20" name="Shape 18"/>
          <p:cNvSpPr/>
          <p:nvPr/>
        </p:nvSpPr>
        <p:spPr>
          <a:xfrm>
            <a:off x="6675120" y="3401568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03136" y="3401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&amp; Prevention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9189720" y="3401568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17736" y="340156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Whitening &amp; Aesthetic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6675120" y="3968496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03136" y="396849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Dentistry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9189720" y="3968496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317736" y="396849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Implants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6675120" y="4535424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03136" y="45354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Orthodontics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9189720" y="4535424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317736" y="453542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Pediatric Dentistry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6675120" y="5212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pod owns a full funnel — leads → consults → plans → acceptance → revenue — with its own landing page, doctor videos, scripts, financing options and KPI dashboard. Future pods: Surgical, Day Surgery, Head &amp; Neck, Corporate/Community.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DN Growth Command Center — Clinic Growth Chapters &amp; Specialty Growth Pods (Notion)</a:t>
            </a:r>
            <a:endParaRPr lang="en-US" sz="85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Lifecycle / Retention Engine — keeping patients in care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grows via recall, reactivation and membership. Five canonical retention lanes; Lane A (Cosmetic) runs as a premium overlay inside aesthetic &amp; rehab follow-up.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7406640" cy="731520"/>
          </a:xfrm>
          <a:prstGeom prst="roundRect">
            <a:avLst>
              <a:gd name="adj" fmla="val 8750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94944" y="173736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9494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1261872" y="1645920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&amp; Routine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3108960" y="16276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the family's default oral-health home</a:t>
            </a:r>
            <a:endParaRPr lang="en-US" sz="880"/>
          </a:p>
        </p:txBody>
      </p:sp>
      <p:sp>
        <p:nvSpPr>
          <p:cNvPr id="10" name="Text 8"/>
          <p:cNvSpPr/>
          <p:nvPr/>
        </p:nvSpPr>
        <p:spPr>
          <a:xfrm>
            <a:off x="603504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compliance · family repeat rate · household penetration</a:t>
            </a:r>
            <a:endParaRPr lang="en-US" sz="820"/>
          </a:p>
        </p:txBody>
      </p:sp>
      <p:sp>
        <p:nvSpPr>
          <p:cNvPr id="11" name="Shape 9"/>
          <p:cNvSpPr/>
          <p:nvPr/>
        </p:nvSpPr>
        <p:spPr>
          <a:xfrm>
            <a:off x="548640" y="2414016"/>
            <a:ext cx="7406640" cy="731520"/>
          </a:xfrm>
          <a:prstGeom prst="roundRect">
            <a:avLst>
              <a:gd name="adj" fmla="val 8750"/>
            </a:avLst>
          </a:prstGeom>
          <a:solidFill>
            <a:srgbClr val="F7F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25786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4944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261872" y="2487168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&amp; Fast-Access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108960" y="24688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rescue visit into retained care — every urgent visit ends with a second-step plan</a:t>
            </a:r>
            <a:endParaRPr lang="en-US" sz="880"/>
          </a:p>
        </p:txBody>
      </p:sp>
      <p:sp>
        <p:nvSpPr>
          <p:cNvPr id="16" name="Text 14"/>
          <p:cNvSpPr/>
          <p:nvPr/>
        </p:nvSpPr>
        <p:spPr>
          <a:xfrm>
            <a:off x="603504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→ follow-up conversion · return rate · continuation</a:t>
            </a:r>
            <a:endParaRPr lang="en-US" sz="820"/>
          </a:p>
        </p:txBody>
      </p:sp>
      <p:sp>
        <p:nvSpPr>
          <p:cNvPr id="17" name="Shape 15"/>
          <p:cNvSpPr/>
          <p:nvPr/>
        </p:nvSpPr>
        <p:spPr>
          <a:xfrm>
            <a:off x="548640" y="3255264"/>
            <a:ext cx="7406640" cy="731520"/>
          </a:xfrm>
          <a:prstGeom prst="roundRect">
            <a:avLst>
              <a:gd name="adj" fmla="val 8750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4944" y="341985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4944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1261872" y="3328416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&amp; Aesthetics</a:t>
            </a:r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108960" y="33101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smile journey — maintenance, enhancement, referral at reveal moments</a:t>
            </a:r>
            <a:endParaRPr lang="en-US" sz="880"/>
          </a:p>
        </p:txBody>
      </p:sp>
      <p:sp>
        <p:nvSpPr>
          <p:cNvPr id="22" name="Text 20"/>
          <p:cNvSpPr/>
          <p:nvPr/>
        </p:nvSpPr>
        <p:spPr>
          <a:xfrm>
            <a:off x="6035040" y="33101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aesthetic utilization · enhancement uptake · referrals</a:t>
            </a:r>
            <a:endParaRPr lang="en-US" sz="820"/>
          </a:p>
        </p:txBody>
      </p:sp>
      <p:sp>
        <p:nvSpPr>
          <p:cNvPr id="23" name="Shape 21"/>
          <p:cNvSpPr/>
          <p:nvPr/>
        </p:nvSpPr>
        <p:spPr>
          <a:xfrm>
            <a:off x="548640" y="4096512"/>
            <a:ext cx="7406640" cy="731520"/>
          </a:xfrm>
          <a:prstGeom prst="roundRect">
            <a:avLst>
              <a:gd name="adj" fmla="val 8750"/>
            </a:avLst>
          </a:prstGeom>
          <a:solidFill>
            <a:srgbClr val="F7F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94944" y="426110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4944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1261872" y="4169664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Orthodontics / DN Align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108960" y="415137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start-to-finish completion across a long journey</a:t>
            </a:r>
            <a:endParaRPr lang="en-US" sz="880"/>
          </a:p>
        </p:txBody>
      </p:sp>
      <p:sp>
        <p:nvSpPr>
          <p:cNvPr id="28" name="Text 26"/>
          <p:cNvSpPr/>
          <p:nvPr/>
        </p:nvSpPr>
        <p:spPr>
          <a:xfrm>
            <a:off x="6035040" y="415137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continuation · missed-stage recovery · retention-phase adherence</a:t>
            </a:r>
            <a:endParaRPr lang="en-US" sz="820"/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7406640" cy="731520"/>
          </a:xfrm>
          <a:prstGeom prst="roundRect">
            <a:avLst>
              <a:gd name="adj" fmla="val 8750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4944" y="51023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4944" y="5084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1261872" y="5010912"/>
            <a:ext cx="1783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Implants &amp; Full Rehab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3108960" y="499262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a major case sit without the next clinical or maintenance step booked</a:t>
            </a:r>
            <a:endParaRPr lang="en-US" sz="880"/>
          </a:p>
        </p:txBody>
      </p:sp>
      <p:sp>
        <p:nvSpPr>
          <p:cNvPr id="34" name="Text 32"/>
          <p:cNvSpPr/>
          <p:nvPr/>
        </p:nvSpPr>
        <p:spPr>
          <a:xfrm>
            <a:off x="6035040" y="499262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completion · maintenance retention · advocacy</a:t>
            </a:r>
            <a:endParaRPr lang="en-US" sz="820"/>
          </a:p>
        </p:txBody>
      </p:sp>
      <p:sp>
        <p:nvSpPr>
          <p:cNvPr id="35" name="Shape 33"/>
          <p:cNvSpPr/>
          <p:nvPr/>
        </p:nvSpPr>
        <p:spPr>
          <a:xfrm>
            <a:off x="8183880" y="1572768"/>
            <a:ext cx="3456432" cy="4206240"/>
          </a:xfrm>
          <a:prstGeom prst="roundRect">
            <a:avLst>
              <a:gd name="adj" fmla="val 1852"/>
            </a:avLst>
          </a:prstGeom>
          <a:solidFill>
            <a:srgbClr val="0B3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66760" y="17556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Cross-lane rules</a:t>
            </a:r>
            <a:endParaRPr lang="en-US" sz="1450"/>
          </a:p>
        </p:txBody>
      </p:sp>
      <p:sp>
        <p:nvSpPr>
          <p:cNvPr id="37" name="Text 35"/>
          <p:cNvSpPr/>
          <p:nvPr/>
        </p:nvSpPr>
        <p:spPr>
          <a:xfrm>
            <a:off x="8366760" y="2139696"/>
            <a:ext cx="3127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8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lane has a defined next-best-visit — retention fails when a patient leaves with no future care logic</a:t>
            </a:r>
            <a:endParaRPr lang="en-US" sz="98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8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Reactivation triggers: overdue recall, unfinished plans, lapsed cohorts, silent post-op patients</a:t>
            </a:r>
            <a:endParaRPr lang="en-US" sz="98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8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lane review: due recall population, booked, lapsed cohort, reactivation rate, referral contribution, drop-off points</a:t>
            </a:r>
            <a:endParaRPr lang="en-US" sz="98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8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to build: recall automation · reactivation playbooks · membership (Smile Club) journeys</a:t>
            </a:r>
            <a:endParaRPr lang="en-US" sz="98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Lifecycle / Retention Engine (Notion, Growth OS — Engines)</a:t>
            </a:r>
            <a:endParaRPr lang="en-US" sz="85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CHANNELS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channel map — Paid, Owned, Earned, Shared, Partner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channel class plays a different role; the mix is managed monthly (channel/offer review, budget allocation, creative refresh).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093976" cy="4297680"/>
          </a:xfrm>
          <a:prstGeom prst="roundRect">
            <a:avLst>
              <a:gd name="adj" fmla="val 3057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755648"/>
            <a:ext cx="1819656" cy="402336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755648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85800" y="224942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demand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1828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Ads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TikTok / Snapchat ads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pre-roll, display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influencer posts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articles</a:t>
            </a:r>
            <a:endParaRPr lang="en-US" sz="930"/>
          </a:p>
        </p:txBody>
      </p:sp>
      <p:sp>
        <p:nvSpPr>
          <p:cNvPr id="10" name="Shape 8"/>
          <p:cNvSpPr/>
          <p:nvPr/>
        </p:nvSpPr>
        <p:spPr>
          <a:xfrm>
            <a:off x="2825496" y="1600200"/>
            <a:ext cx="2093976" cy="4297680"/>
          </a:xfrm>
          <a:prstGeom prst="roundRect">
            <a:avLst>
              <a:gd name="adj" fmla="val 3057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962656" y="1755648"/>
            <a:ext cx="1819656" cy="402336"/>
          </a:xfrm>
          <a:prstGeom prst="roundRect">
            <a:avLst>
              <a:gd name="adj" fmla="val 1363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62656" y="1755648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2962656" y="224942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&amp; retain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2962656" y="2697480"/>
            <a:ext cx="1828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+ landing pages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content, GBP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/ WhatsApp lists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accounts as assets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In-clinic screens, CRM</a:t>
            </a:r>
            <a:endParaRPr lang="en-US" sz="930"/>
          </a:p>
        </p:txBody>
      </p:sp>
      <p:sp>
        <p:nvSpPr>
          <p:cNvPr id="15" name="Shape 13"/>
          <p:cNvSpPr/>
          <p:nvPr/>
        </p:nvSpPr>
        <p:spPr>
          <a:xfrm>
            <a:off x="5102352" y="1600200"/>
            <a:ext cx="2093976" cy="4297680"/>
          </a:xfrm>
          <a:prstGeom prst="roundRect">
            <a:avLst>
              <a:gd name="adj" fmla="val 3057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39512" y="1755648"/>
            <a:ext cx="1819656" cy="402336"/>
          </a:xfrm>
          <a:prstGeom prst="roundRect">
            <a:avLst>
              <a:gd name="adj" fmla="val 13636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39512" y="1755648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239512" y="224942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engine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5239512" y="2697480"/>
            <a:ext cx="1828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 news coverage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reviews, Doctify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 referrals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influencer mentions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Backlinks, “top clinics” lists</a:t>
            </a:r>
            <a:endParaRPr lang="en-US" sz="930"/>
          </a:p>
        </p:txBody>
      </p:sp>
      <p:sp>
        <p:nvSpPr>
          <p:cNvPr id="20" name="Shape 18"/>
          <p:cNvSpPr/>
          <p:nvPr/>
        </p:nvSpPr>
        <p:spPr>
          <a:xfrm>
            <a:off x="7379208" y="1600200"/>
            <a:ext cx="2093976" cy="4297680"/>
          </a:xfrm>
          <a:prstGeom prst="roundRect">
            <a:avLst>
              <a:gd name="adj" fmla="val 3057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16368" y="1755648"/>
            <a:ext cx="1819656" cy="402336"/>
          </a:xfrm>
          <a:prstGeom prst="roundRect">
            <a:avLst>
              <a:gd name="adj" fmla="val 13636"/>
            </a:avLst>
          </a:prstGeom>
          <a:solidFill>
            <a:srgbClr val="E9B44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16368" y="1755648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7516368" y="224942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&amp; warmth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7516368" y="2697480"/>
            <a:ext cx="1828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DMs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groups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UGC &amp; tags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Co-marketing collabs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/ Quora threads</a:t>
            </a:r>
            <a:endParaRPr lang="en-US" sz="930"/>
          </a:p>
        </p:txBody>
      </p:sp>
      <p:sp>
        <p:nvSpPr>
          <p:cNvPr id="25" name="Shape 23"/>
          <p:cNvSpPr/>
          <p:nvPr/>
        </p:nvSpPr>
        <p:spPr>
          <a:xfrm>
            <a:off x="9656064" y="1600200"/>
            <a:ext cx="2093976" cy="4297680"/>
          </a:xfrm>
          <a:prstGeom prst="roundRect">
            <a:avLst>
              <a:gd name="adj" fmla="val 3057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793224" y="1755648"/>
            <a:ext cx="1819656" cy="402336"/>
          </a:xfrm>
          <a:prstGeom prst="roundRect">
            <a:avLst>
              <a:gd name="adj" fmla="val 13636"/>
            </a:avLst>
          </a:prstGeom>
          <a:solidFill>
            <a:srgbClr val="0B3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93224" y="1755648"/>
            <a:ext cx="18196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9793224" y="2249424"/>
            <a:ext cx="1819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pipeline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9793224" y="2697480"/>
            <a:ext cx="1828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Corporates, schools, gyms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concierges, tourism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memberships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referral deals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cross-referrals</a:t>
            </a:r>
            <a:endParaRPr lang="en-US" sz="930"/>
          </a:p>
        </p:txBody>
      </p:sp>
      <p:sp>
        <p:nvSpPr>
          <p:cNvPr id="30" name="Text 28"/>
          <p:cNvSpPr/>
          <p:nvPr/>
        </p:nvSpPr>
        <p:spPr>
          <a:xfrm>
            <a:off x="548640" y="6016752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channels in operation (Growth Office): Google Search · Meta · TikTok · SEO · landing pages · influencers/creators · retargeting · organic coordination · WhatsApp broadcasts.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Marketing Channel Map · DN Growth Command Center — Demand Generation (Notion)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GROWTH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PPP &amp; institutional channels — the market access engine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channels beyond paid marketing: more trusted than ads, cheaper than paid acquisition, and directly linked to chair utilization.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2578608" cy="3291840"/>
          </a:xfrm>
          <a:prstGeom prst="roundRect">
            <a:avLst>
              <a:gd name="adj" fmla="val 248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4944" y="1719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· 30 DAYS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694944" y="2048256"/>
            <a:ext cx="23042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nurseries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wellness / HR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communities &amp; developers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warm contacts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clinical referral system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Doctor-led trust content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3310128" y="1572768"/>
            <a:ext cx="2578608" cy="3291840"/>
          </a:xfrm>
          <a:prstGeom prst="roundRect">
            <a:avLst>
              <a:gd name="adj" fmla="val 248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56432" y="1719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60 DAYS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3456432" y="2048256"/>
            <a:ext cx="23042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Embassies &amp; expat communities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/ access programs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hospitality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Medical-referral partners (ENT, derma, pediatrics)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6071616" y="1572768"/>
            <a:ext cx="2578608" cy="3291840"/>
          </a:xfrm>
          <a:prstGeom prst="roundRect">
            <a:avLst>
              <a:gd name="adj" fmla="val 2482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719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· 90 DAYS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6217920" y="2048256"/>
            <a:ext cx="230428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Academy external education events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offices &amp; executive circles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prevention campaigns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public–private pilots</a:t>
            </a:r>
            <a:endParaRPr lang="en-US" sz="95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referral networks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8961120" y="1572768"/>
            <a:ext cx="2679192" cy="3291840"/>
          </a:xfrm>
          <a:prstGeom prst="roundRect">
            <a:avLst>
              <a:gd name="adj" fmla="val 2389"/>
            </a:avLst>
          </a:prstGeom>
          <a:solidFill>
            <a:srgbClr val="0B3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25712" y="1719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9125712" y="2029968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86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Hasna — PPP, schools, community health, institutional access</a:t>
            </a:r>
            <a:endParaRPr lang="en-US" sz="86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86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Tosun — clinical credibility, governance, internal referrals</a:t>
            </a:r>
            <a:endParaRPr lang="en-US" sz="86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86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Founder/CEO — high-value intros, partnership closing</a:t>
            </a:r>
            <a:endParaRPr lang="en-US" sz="86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86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— assets, QR journeys, campaigns</a:t>
            </a:r>
            <a:endParaRPr lang="en-US" sz="86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86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— capacity &amp; activation logistics</a:t>
            </a:r>
            <a:endParaRPr lang="en-US" sz="86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86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Center — capture, follow-up, booking</a:t>
            </a:r>
            <a:endParaRPr lang="en-US" sz="860"/>
          </a:p>
          <a:p>
            <a:pPr marL="114300" indent="-114300">
              <a:spcAft>
                <a:spcPts val="400"/>
              </a:spcAft>
              <a:buSzPct val="100000"/>
              <a:buChar char="•"/>
            </a:pPr>
            <a:r>
              <a:rPr lang="en-US" sz="86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— package economics, ROI</a:t>
            </a:r>
            <a:endParaRPr lang="en-US" sz="86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7F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513892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0B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machinery: </a:t>
            </a: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Growth Kit (1-page proposals per channel, doctor profile sheets, screening workflow, QR booking journey, WhatsApp scripts, CRM stages) · weekly 45-min Channel War Room · 11-stage pipeline from target identified → activation → revenue → repeat/scale decision · channel economics measured weekly (leads, bookings, show-up, acceptance, revenue per activation, cost per booking, repeatability).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PPP &amp; Institutional Growth Channels — Idea Generation and Acceleration Playbook (Notion)</a:t>
            </a:r>
            <a:endParaRPr lang="en-US" sz="850"/>
          </a:p>
        </p:txBody>
      </p:sp>
      <p:sp>
        <p:nvSpPr>
          <p:cNvPr id="20" name="Text 18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separate clinic entities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clinic sits in its own company under DN Holdings; shared services and brand live at platform level so every new clinic plugs into the same system.</a:t>
            </a:r>
            <a:endParaRPr lang="en-US" sz="12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7772400" cy="42062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Nation Holdings (HoldCo)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parent entity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Nation MSO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services platform: growth, marketing, CRM, finance, procurement for all clinics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Nation IP Co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Owns the brand, playbooks and IP used across the network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Nation Al Wasl Co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Trading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Platform-entry clinic; 2 active / 4 installed chairs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Nation Dr. Tosun Co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Trading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revenue engine; 5 active chairs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Nation AMC Co (Al Maher)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E9B4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Integrating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Acquisition; 2 active / 5 installed; 3 chairs to unlock 2027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Nation DIFC Co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Tower; opening Q1-2027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Nation Academy Co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9DB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CPD + training vertical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Dental Nation Retail Co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9DB4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20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health products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41080" y="1572768"/>
            <a:ext cx="2999232" cy="4526280"/>
          </a:xfrm>
          <a:prstGeom prst="roundRect">
            <a:avLst>
              <a:gd name="adj" fmla="val 2134"/>
            </a:avLst>
          </a:prstGeom>
          <a:solidFill>
            <a:srgbClr val="0B3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823960" y="17556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structure</a:t>
            </a:r>
            <a:endParaRPr lang="en-US" sz="1450"/>
          </a:p>
        </p:txBody>
      </p:sp>
      <p:sp>
        <p:nvSpPr>
          <p:cNvPr id="8" name="Text 5"/>
          <p:cNvSpPr/>
          <p:nvPr/>
        </p:nvSpPr>
        <p:spPr>
          <a:xfrm>
            <a:off x="8823960" y="2103120"/>
            <a:ext cx="2651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00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clinic is ring-fenced in its own entity — clean accountability per site</a:t>
            </a:r>
            <a:endParaRPr lang="en-US" sz="100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00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brand and shared services are built once at platform level and reused by every clinic</a:t>
            </a:r>
            <a:endParaRPr lang="en-US" sz="100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00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clinics (DIFC and beyond) plug into the same demand, conversion and retention system from day one</a:t>
            </a:r>
            <a:endParaRPr lang="en-US" sz="100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00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verticals (Academy, Retail) extend the brand without touching clinic operations</a:t>
            </a:r>
            <a:endParaRPr lang="en-US" sz="100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Dental Nation Group structure (Notion)</a:t>
            </a:r>
            <a:endParaRPr lang="en-US" sz="850"/>
          </a:p>
        </p:txBody>
      </p:sp>
      <p:sp>
        <p:nvSpPr>
          <p:cNvPr id="10" name="Text 7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cadence — how the system is run week to week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meeting must produce: action, owner, deadline, KPI impacted, next review date.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1325880" y="1737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325880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&amp; control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731520" y="2395728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Office charter + Growth Lead assigned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chapters for all 4 clinics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lead sources + WhatsApp/call booking flow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dictionary + first Growth Dashboard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Growth Meeting + campaign calendar</a:t>
            </a:r>
            <a:endParaRPr lang="en-US" sz="930"/>
          </a:p>
        </p:txBody>
      </p:sp>
      <p:sp>
        <p:nvSpPr>
          <p:cNvPr id="11" name="Shape 9"/>
          <p:cNvSpPr/>
          <p:nvPr/>
        </p:nvSpPr>
        <p:spPr>
          <a:xfrm>
            <a:off x="4370832" y="155448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53712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53712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/>
          </a:p>
        </p:txBody>
      </p:sp>
      <p:sp>
        <p:nvSpPr>
          <p:cNvPr id="14" name="Text 12"/>
          <p:cNvSpPr/>
          <p:nvPr/>
        </p:nvSpPr>
        <p:spPr>
          <a:xfrm>
            <a:off x="5148072" y="1737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5148072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4553712" y="2395728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campaigns per clinic live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pods: hygiene, whitening, emergency, implants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+ WhatsApp scripts + retargeting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collection + partnership pipeline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recovery + treatment follow-up systems</a:t>
            </a:r>
            <a:endParaRPr lang="en-US" sz="930"/>
          </a:p>
        </p:txBody>
      </p:sp>
      <p:sp>
        <p:nvSpPr>
          <p:cNvPr id="17" name="Shape 15"/>
          <p:cNvSpPr/>
          <p:nvPr/>
        </p:nvSpPr>
        <p:spPr>
          <a:xfrm>
            <a:off x="8193024" y="1554480"/>
            <a:ext cx="3611880" cy="3200400"/>
          </a:xfrm>
          <a:prstGeom prst="roundRect">
            <a:avLst>
              <a:gd name="adj" fmla="val 2000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75904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75904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/>
          </a:p>
        </p:txBody>
      </p:sp>
      <p:sp>
        <p:nvSpPr>
          <p:cNvPr id="20" name="Text 18"/>
          <p:cNvSpPr/>
          <p:nvPr/>
        </p:nvSpPr>
        <p:spPr>
          <a:xfrm>
            <a:off x="8970264" y="17373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8970264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&amp; scale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8375904" y="2395728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weak campaigns, scale winners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Doctor-specific proof content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+ referral system, Smile Club structure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&amp; specialty scorecards</a:t>
            </a:r>
            <a:endParaRPr lang="en-US" sz="930"/>
          </a:p>
          <a:p>
            <a:pPr marL="114300" indent="-114300">
              <a:spcAft>
                <a:spcPts val="500"/>
              </a:spcAft>
              <a:buSzPct val="100000"/>
              <a:buChar char="•"/>
            </a:pPr>
            <a:r>
              <a:rPr lang="en-US" sz="93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+ repeatable growth playbooks</a:t>
            </a:r>
            <a:endParaRPr lang="en-US" sz="930"/>
          </a:p>
        </p:txBody>
      </p:sp>
      <p:sp>
        <p:nvSpPr>
          <p:cNvPr id="23" name="Shape 21"/>
          <p:cNvSpPr/>
          <p:nvPr/>
        </p:nvSpPr>
        <p:spPr>
          <a:xfrm>
            <a:off x="548640" y="4956048"/>
            <a:ext cx="11091672" cy="1170432"/>
          </a:xfrm>
          <a:prstGeom prst="roundRect">
            <a:avLst>
              <a:gd name="adj" fmla="val 5469"/>
            </a:avLst>
          </a:prstGeom>
          <a:solidFill>
            <a:srgbClr val="0B3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" y="50840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Growth Meeting agenda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749808" y="5376672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7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performance · revenue by clinic · leads by source · booking conversion · no-show leakage · treatment-plan follow-up · campaign performance · clinic activation · content needed · actions for next 7 days.  Chair: Founder / Head of Growth. Participants: Growth, clinic managers, call center, DN Studio, clinical lead, finance as needed.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DN Growth Command Center — 30/60/90 build plan &amp; Weekly Growth Meeting template (Notion)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designed vs. what still needs to be done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documented; the open items are ownership, live data, and operating discipline.</a:t>
            </a:r>
            <a:endParaRPr lang="en-US" sz="120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actions (Growth)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Growth Lead and CRM / Conversion owner</a:t>
            </a:r>
            <a:endParaRPr lang="en-US" sz="11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working databases: Growth Actions, Clinic Chapters, Specialty Pods, Campaign Calendar, KPI Scorecard</a:t>
            </a:r>
            <a:endParaRPr lang="en-US" sz="11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first weekly Growth Meeting</a:t>
            </a:r>
            <a:endParaRPr lang="en-US" sz="11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conversion audit: WhatsApp, calls, missed calls, treatment-plan follow-up</a:t>
            </a:r>
            <a:endParaRPr lang="en-US" sz="11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live Growth Dashboard (network / clinic / funnel levels)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6400800" y="14813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Immediate actions (Channels &amp; activation)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0" y="182880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Sprint 1 institutional channels: schools, corporate HR, residential communities</a:t>
            </a:r>
            <a:endParaRPr lang="en-US" sz="11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reusable Growth Kit (proposals, QR journeys, scripts)</a:t>
            </a:r>
            <a:endParaRPr lang="en-US" sz="11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weekly Channel War Room</a:t>
            </a:r>
            <a:endParaRPr lang="en-US" sz="11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internal clinical referral tracking</a:t>
            </a:r>
            <a:endParaRPr lang="en-US" sz="110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0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doctor trust-content sprint (20 short videos)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11091672" cy="1874520"/>
          </a:xfrm>
          <a:prstGeom prst="roundRect">
            <a:avLst>
              <a:gd name="adj" fmla="val 3415"/>
            </a:avLst>
          </a:prstGeom>
          <a:solidFill>
            <a:srgbClr val="ECF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rules the team must hold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749808" y="470916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4690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161288" y="46634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conversion leakage before scaling paid spend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6236208" y="470916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36208" y="4690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647688" y="46634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clinic focuses on 3–5 priority services only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749808" y="514807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5129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1161288" y="51023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proof assets before pushing high-ticket services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6236208" y="5148072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36208" y="5129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6647688" y="510235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by clinic AND by specialty, not only total revenue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749808" y="558698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49808" y="5568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1161288" y="55412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coordinates with clinical capacity before campaigns launch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6236208" y="5586984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36208" y="5568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6647688" y="55412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20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weak campaigns quickly; scale winners with discipline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DN Growth Command Center — Immediate next actions &amp; decision rules · PPP &amp; Institutional Growth Channels Playbook (Notion)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E7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3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280160" y="-1463040"/>
            <a:ext cx="3474720" cy="347472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→ Bookings → Treatment → Lifetime Value</a:t>
            </a:r>
            <a:endParaRPr lang="en-US" sz="360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activity in this report — lanes, channels, pods, retention loops, clinic entities — is one operating model. The team's job now is to staff it, dashboard it, and run the weekly rhythm.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pages (Dental Nation Notion workspace)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9F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Growth Command Center — V1</a:t>
            </a:r>
            <a:endParaRPr lang="en-US" sz="105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9F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13 Demand Lanes v2.0 — Full Architecture (A–M)</a:t>
            </a:r>
            <a:endParaRPr lang="en-US" sz="105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9F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Generation Engine (Growth OS reference library)</a:t>
            </a:r>
            <a:endParaRPr lang="en-US" sz="1050"/>
          </a:p>
        </p:txBody>
      </p:sp>
      <p:sp>
        <p:nvSpPr>
          <p:cNvPr id="9" name="Text 7"/>
          <p:cNvSpPr/>
          <p:nvPr/>
        </p:nvSpPr>
        <p:spPr>
          <a:xfrm>
            <a:off x="6217920" y="45262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9F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/ Retention Engine</a:t>
            </a:r>
            <a:endParaRPr lang="en-US" sz="105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9F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&amp; Institutional Growth Channels Playbook</a:t>
            </a:r>
            <a:endParaRPr lang="en-US" sz="105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9FC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Channel Map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E9B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July 2026 · For internal team use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19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</cp:revision>
  <dcterms:created xsi:type="dcterms:W3CDTF">2026-07-15T09:44:28Z</dcterms:created>
  <dcterms:modified xsi:type="dcterms:W3CDTF">2026-08-02T13:31:14Z</dcterms:modified>
</cp:coreProperties>
</file>